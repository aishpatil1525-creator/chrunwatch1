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43A"/>
          </a:solidFill>
          <a:ln>
            <a:solidFill>
              <a:srgbClr val="17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ChurnWatch</a:t>
            </a:r>
          </a:p>
          <a:p>
            <a:pPr>
              <a:spcBef>
                <a:spcPts val="800"/>
              </a:spcBef>
              <a:defRPr sz="2200">
                <a:solidFill>
                  <a:srgbClr val="159D91"/>
                </a:solidFill>
                <a:latin typeface="Arial"/>
              </a:defRPr>
            </a:pPr>
            <a:r>
              <a:t>Customer Retention &amp; Churn Risk Analytics Platform</a:t>
            </a:r>
          </a:p>
          <a:p>
            <a:pPr>
              <a:spcBef>
                <a:spcPts val="1800"/>
              </a:spcBef>
              <a:defRPr sz="1400">
                <a:solidFill>
                  <a:srgbClr val="A0AEC0"/>
                </a:solidFill>
                <a:latin typeface="Arial"/>
              </a:defRPr>
            </a:pPr>
            <a:r>
              <a:t>Data Analytics Internship Evaluation &amp;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Author: Data Analytics Candidate   |   Project: Minor Project 1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Stack: Python (Scikit-Learn/Pandas), ANSI SQL, Vanilla JS, HTML5/CSS3,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63E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43A"/>
                </a:solidFill>
                <a:latin typeface="Arial"/>
              </a:defRPr>
            </a:pPr>
            <a:r>
              <a:t>Executive Problem Statement &amp; Business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B3C"/>
                </a:solidFill>
              </a:defRPr>
            </a:pPr>
            <a:r>
              <a:t>Customer Acquisition Cost (CAC) in B2B SaaS is 5x–7x higher than retention cost. ChurnWatch consolidates multi-dimensional customer behavioral signals (licensing, engagement decay, and ticket friction) into an actionable retention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560320" cy="2194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78399"/>
                </a:solidFill>
              </a:defRPr>
            </a:pPr>
            <a:r>
              <a:t>TOTAL ACCOUNTS</a:t>
            </a:r>
          </a:p>
          <a:p>
            <a:pPr>
              <a:spcBef>
                <a:spcPts val="800"/>
              </a:spcBef>
              <a:defRPr sz="2800" b="1">
                <a:solidFill>
                  <a:srgbClr val="4263EB"/>
                </a:solidFill>
              </a:defRPr>
            </a:pPr>
            <a:r>
              <a:t>1,250</a:t>
            </a:r>
          </a:p>
          <a:p>
            <a:pPr>
              <a:spcBef>
                <a:spcPts val="800"/>
              </a:spcBef>
              <a:defRPr sz="1000">
                <a:solidFill>
                  <a:srgbClr val="202B3C"/>
                </a:solidFill>
              </a:defRPr>
            </a:pPr>
            <a:r>
              <a:t>Evaluated B2B 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651760"/>
            <a:ext cx="2560320" cy="2194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78399"/>
                </a:solidFill>
              </a:defRPr>
            </a:pPr>
            <a:r>
              <a:t>CHURN RATE</a:t>
            </a:r>
          </a:p>
          <a:p>
            <a:pPr>
              <a:spcBef>
                <a:spcPts val="800"/>
              </a:spcBef>
              <a:defRPr sz="2800" b="1">
                <a:solidFill>
                  <a:srgbClr val="D94B55"/>
                </a:solidFill>
              </a:defRPr>
            </a:pPr>
            <a:r>
              <a:t>19.2%</a:t>
            </a:r>
          </a:p>
          <a:p>
            <a:pPr>
              <a:spcBef>
                <a:spcPts val="800"/>
              </a:spcBef>
              <a:defRPr sz="1000">
                <a:solidFill>
                  <a:srgbClr val="202B3C"/>
                </a:solidFill>
              </a:defRPr>
            </a:pPr>
            <a:r>
              <a:t>-0.8% MoM improvement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651760"/>
            <a:ext cx="2560320" cy="2194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78399"/>
                </a:solidFill>
              </a:defRPr>
            </a:pPr>
            <a:r>
              <a:t>RENEWAL RATE</a:t>
            </a:r>
          </a:p>
          <a:p>
            <a:pPr>
              <a:spcBef>
                <a:spcPts val="800"/>
              </a:spcBef>
              <a:defRPr sz="2800" b="1">
                <a:solidFill>
                  <a:srgbClr val="168A63"/>
                </a:solidFill>
              </a:defRPr>
            </a:pPr>
            <a:r>
              <a:t>80.8%</a:t>
            </a:r>
          </a:p>
          <a:p>
            <a:pPr>
              <a:spcBef>
                <a:spcPts val="800"/>
              </a:spcBef>
              <a:defRPr sz="1000">
                <a:solidFill>
                  <a:srgbClr val="202B3C"/>
                </a:solidFill>
              </a:defRPr>
            </a:pPr>
            <a:r>
              <a:t>+1.4% cohort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651760"/>
            <a:ext cx="2560320" cy="2194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78399"/>
                </a:solidFill>
              </a:defRPr>
            </a:pPr>
            <a:r>
              <a:t>TOTAL MRR</a:t>
            </a:r>
          </a:p>
          <a:p>
            <a:pPr>
              <a:spcBef>
                <a:spcPts val="800"/>
              </a:spcBef>
              <a:defRPr sz="2800" b="1">
                <a:solidFill>
                  <a:srgbClr val="159D91"/>
                </a:solidFill>
              </a:defRPr>
            </a:pPr>
            <a:r>
              <a:t>$287,450</a:t>
            </a:r>
          </a:p>
          <a:p>
            <a:pPr>
              <a:spcBef>
                <a:spcPts val="800"/>
              </a:spcBef>
              <a:defRPr sz="1000">
                <a:solidFill>
                  <a:srgbClr val="202B3C"/>
                </a:solidFill>
              </a:defRPr>
            </a:pPr>
            <a:r>
              <a:t>$61,398 high risk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243A"/>
                </a:solidFill>
              </a:defRPr>
            </a:pPr>
            <a:r>
              <a:t>Key Strategic Value: By triaging the top 20% highest-risk accounts, Customer Success teams can protect up to $61,398 in monthly recurring revenue with high-touch intervention playbooks.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63EB"/>
                </a:solidFill>
                <a:latin typeface="Arial"/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43A"/>
                </a:solidFill>
                <a:latin typeface="Arial"/>
              </a:defRPr>
            </a:pPr>
            <a:r>
              <a:t>Multi-Source Relational Data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1148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263EB"/>
                </a:solidFill>
              </a:defRPr>
            </a:pPr>
            <a:r>
              <a:t>1. Subscriptions Table</a:t>
            </a:r>
          </a:p>
          <a:p>
            <a:pPr>
              <a:spcBef>
                <a:spcPts val="400"/>
              </a:spcBef>
              <a:defRPr sz="1000" b="1">
                <a:solidFill>
                  <a:srgbClr val="778399"/>
                </a:solidFill>
              </a:defRPr>
            </a:pPr>
            <a:r>
              <a:t>Commercial Contract Baseline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Customer ID &amp; Company Name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Plan Tier: Starter, Pro, Enterprise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Monthly Recurring Revenue (MRR)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Tenure Months &amp; Billing Cycle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Contract Renewal 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41148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9D91"/>
                </a:solidFill>
              </a:defRPr>
            </a:pPr>
            <a:r>
              <a:t>2. Product Usage Table</a:t>
            </a:r>
          </a:p>
          <a:p>
            <a:pPr>
              <a:spcBef>
                <a:spcPts val="400"/>
              </a:spcBef>
              <a:defRPr sz="1000" b="1">
                <a:solidFill>
                  <a:srgbClr val="778399"/>
                </a:solidFill>
              </a:defRPr>
            </a:pPr>
            <a:r>
              <a:t>Active Behavioral Telemetry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Active Users vs Licensed Seats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Seat Utilization Percentage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Monthly Active Login Days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Feature Adoption Index (0-100)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30-Day Engagement Trend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41148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0020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4B55"/>
                </a:solidFill>
              </a:defRPr>
            </a:pPr>
            <a:r>
              <a:t>3. Support Tickets Table</a:t>
            </a:r>
          </a:p>
          <a:p>
            <a:pPr>
              <a:spcBef>
                <a:spcPts val="400"/>
              </a:spcBef>
              <a:defRPr sz="1000" b="1">
                <a:solidFill>
                  <a:srgbClr val="778399"/>
                </a:solidFill>
              </a:defRPr>
            </a:pPr>
            <a:r>
              <a:t>Friction &amp; Dissatisfaction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Total Tickets Past 90 Days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Open Critical Escalations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Average Resolution Time (Hours)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Customer Satisfaction (CSAT 1-5)</a:t>
            </a:r>
          </a:p>
          <a:p>
            <a:pPr>
              <a:spcBef>
                <a:spcPts val="1000"/>
              </a:spcBef>
              <a:defRPr sz="1100">
                <a:solidFill>
                  <a:srgbClr val="202B3C"/>
                </a:solidFill>
              </a:defRPr>
            </a:pPr>
            <a:r>
              <a:t>•  NPS Sentiment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7243A"/>
                </a:solidFill>
              </a:defRPr>
            </a:pPr>
            <a:r>
              <a:t>→ Master Table: unified_customers.csv merges all 3 streams into 1,250 analytical accounts with computed risk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63EB"/>
                </a:solidFill>
                <a:latin typeface="Arial"/>
              </a:defRPr>
            </a:pPr>
            <a:r>
              <a:t>ALGORITHMIC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43A"/>
                </a:solidFill>
                <a:latin typeface="Arial"/>
              </a:defRPr>
            </a:pPr>
            <a:r>
              <a:t>Multi-Factor Churn Risk Scoring Index (0–100)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43A"/>
                </a:solidFill>
              </a:defRPr>
            </a:pPr>
            <a:r>
              <a:t>Composite Weighted Scoring Dimensions:</a:t>
            </a:r>
          </a:p>
          <a:p>
            <a:pPr>
              <a:spcBef>
                <a:spcPts val="1200"/>
              </a:spcBef>
              <a:defRPr sz="1200" b="1">
                <a:solidFill>
                  <a:srgbClr val="4263EB"/>
                </a:solidFill>
              </a:defRPr>
            </a:pPr>
            <a:r>
              <a:t>• 35% Engagement Decay</a:t>
            </a:r>
          </a:p>
          <a:p>
            <a:pPr>
              <a:defRPr sz="1050">
                <a:solidFill>
                  <a:srgbClr val="202B3C"/>
                </a:solidFill>
              </a:defRPr>
            </a:pPr>
            <a:r>
              <a:t>Penalizes significant drops in 30-day active sessions &amp; usage.</a:t>
            </a:r>
          </a:p>
          <a:p>
            <a:pPr>
              <a:spcBef>
                <a:spcPts val="1200"/>
              </a:spcBef>
              <a:defRPr sz="1200" b="1">
                <a:solidFill>
                  <a:srgbClr val="4263EB"/>
                </a:solidFill>
              </a:defRPr>
            </a:pPr>
            <a:r>
              <a:t>• 25% Seat Underutilization</a:t>
            </a:r>
          </a:p>
          <a:p>
            <a:pPr>
              <a:defRPr sz="1050">
                <a:solidFill>
                  <a:srgbClr val="202B3C"/>
                </a:solidFill>
              </a:defRPr>
            </a:pPr>
            <a:r>
              <a:t>Detects shelfware risk when paid licenses are left unassigned.</a:t>
            </a:r>
          </a:p>
          <a:p>
            <a:pPr>
              <a:spcBef>
                <a:spcPts val="1200"/>
              </a:spcBef>
              <a:defRPr sz="1200" b="1">
                <a:solidFill>
                  <a:srgbClr val="4263EB"/>
                </a:solidFill>
              </a:defRPr>
            </a:pPr>
            <a:r>
              <a:t>• 25% Support Friction</a:t>
            </a:r>
          </a:p>
          <a:p>
            <a:pPr>
              <a:defRPr sz="1050">
                <a:solidFill>
                  <a:srgbClr val="202B3C"/>
                </a:solidFill>
              </a:defRPr>
            </a:pPr>
            <a:r>
              <a:t>Accounts for low CSAT (&lt; 3.0) and open critical ticket escalations.</a:t>
            </a:r>
          </a:p>
          <a:p>
            <a:pPr>
              <a:spcBef>
                <a:spcPts val="1200"/>
              </a:spcBef>
              <a:defRPr sz="1200" b="1">
                <a:solidFill>
                  <a:srgbClr val="4263EB"/>
                </a:solidFill>
              </a:defRPr>
            </a:pPr>
            <a:r>
              <a:t>• 15% Contract Vulnerability</a:t>
            </a:r>
          </a:p>
          <a:p>
            <a:pPr>
              <a:defRPr sz="1050">
                <a:solidFill>
                  <a:srgbClr val="202B3C"/>
                </a:solidFill>
              </a:defRPr>
            </a:pPr>
            <a:r>
              <a:t>Evaluates recency of login and monthly contract flexibility.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38912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6002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43A"/>
                </a:solidFill>
              </a:defRPr>
            </a:pPr>
            <a:r>
              <a:t>Actionable Risk Stratification Bands:</a:t>
            </a:r>
          </a:p>
          <a:p>
            <a:pPr>
              <a:spcBef>
                <a:spcPts val="1000"/>
              </a:spcBef>
              <a:defRPr sz="1100" b="1">
                <a:solidFill>
                  <a:srgbClr val="D94B55"/>
                </a:solidFill>
              </a:defRPr>
            </a:pPr>
            <a:r>
              <a:t>HIGH RISK (&gt; 70 Score)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252 Accounts ($61,398 MRR) — Immediate CSM intervention required under 48h SLA. High probability of attrition.</a:t>
            </a:r>
          </a:p>
          <a:p>
            <a:pPr>
              <a:spcBef>
                <a:spcPts val="1000"/>
              </a:spcBef>
              <a:defRPr sz="1100" b="1">
                <a:solidFill>
                  <a:srgbClr val="D99020"/>
                </a:solidFill>
              </a:defRPr>
            </a:pPr>
            <a:r>
              <a:t>MEDIUM RISK (40–70 Score)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156 Accounts ($36,144 MRR) — Workflow enablement review &amp; feature training required within 14-day SLA.</a:t>
            </a:r>
          </a:p>
          <a:p>
            <a:pPr>
              <a:spcBef>
                <a:spcPts val="1000"/>
              </a:spcBef>
              <a:defRPr sz="1100" b="1">
                <a:solidFill>
                  <a:srgbClr val="168A63"/>
                </a:solidFill>
              </a:defRPr>
            </a:pPr>
            <a:r>
              <a:t>LOW RISK (&lt; 40 Score)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842 Accounts ($189,908 MRR) — Healthy accounts with strong adoption. Monitored via automated value summaries.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63EB"/>
                </a:solidFill>
                <a:latin typeface="Arial"/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43A"/>
                </a:solidFill>
                <a:latin typeface="Arial"/>
              </a:defRPr>
            </a:pPr>
            <a:r>
              <a:t>Machine Learning Validation &amp; Key Predictive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43A"/>
                </a:solidFill>
              </a:defRPr>
            </a:pPr>
            <a:r>
              <a:t>Supervised Random Forest Benchmark:</a:t>
            </a:r>
          </a:p>
          <a:p>
            <a:pPr>
              <a:spcBef>
                <a:spcPts val="1000"/>
              </a:spcBef>
              <a:defRPr sz="1150" b="1">
                <a:solidFill>
                  <a:srgbClr val="4263EB"/>
                </a:solidFill>
              </a:defRPr>
            </a:pPr>
            <a:r>
              <a:t>• Classification Accuracy: 86.26%</a:t>
            </a:r>
          </a:p>
          <a:p>
            <a:pPr>
              <a:defRPr sz="1000">
                <a:solidFill>
                  <a:srgbClr val="202B3C"/>
                </a:solidFill>
              </a:defRPr>
            </a:pPr>
            <a:r>
              <a:t>Exceeds standard 80% deployment baseline on test set.</a:t>
            </a:r>
          </a:p>
          <a:p>
            <a:pPr>
              <a:spcBef>
                <a:spcPts val="1000"/>
              </a:spcBef>
              <a:defRPr sz="1150" b="1">
                <a:solidFill>
                  <a:srgbClr val="4263EB"/>
                </a:solidFill>
              </a:defRPr>
            </a:pPr>
            <a:r>
              <a:t>• ROC-AUC Score: 0.863</a:t>
            </a:r>
          </a:p>
          <a:p>
            <a:pPr>
              <a:defRPr sz="1000">
                <a:solidFill>
                  <a:srgbClr val="202B3C"/>
                </a:solidFill>
              </a:defRPr>
            </a:pPr>
            <a:r>
              <a:t>Indicates strong discrimination between churners &amp; healthy accounts.</a:t>
            </a:r>
          </a:p>
          <a:p>
            <a:pPr>
              <a:spcBef>
                <a:spcPts val="1000"/>
              </a:spcBef>
              <a:defRPr sz="1150" b="1">
                <a:solidFill>
                  <a:srgbClr val="4263EB"/>
                </a:solidFill>
              </a:defRPr>
            </a:pPr>
            <a:r>
              <a:t>• Non-Churn Precision: 0.91</a:t>
            </a:r>
          </a:p>
          <a:p>
            <a:pPr>
              <a:defRPr sz="1000">
                <a:solidFill>
                  <a:srgbClr val="202B3C"/>
                </a:solidFill>
              </a:defRPr>
            </a:pPr>
            <a:r>
              <a:t>Minimizes false alarms on stable, healthy customers.</a:t>
            </a:r>
          </a:p>
          <a:p>
            <a:pPr>
              <a:spcBef>
                <a:spcPts val="1000"/>
              </a:spcBef>
              <a:defRPr sz="1150" b="1">
                <a:solidFill>
                  <a:srgbClr val="4263EB"/>
                </a:solidFill>
              </a:defRPr>
            </a:pPr>
            <a:r>
              <a:t>• Top Churn Predictor</a:t>
            </a:r>
          </a:p>
          <a:p>
            <a:pPr>
              <a:defRPr sz="1000">
                <a:solidFill>
                  <a:srgbClr val="202B3C"/>
                </a:solidFill>
              </a:defRPr>
            </a:pPr>
            <a:r>
              <a:t>Engagement Change % accounts for 31.4% of model importance.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63EB"/>
                </a:solidFill>
                <a:latin typeface="Arial"/>
              </a:defRPr>
            </a:pPr>
            <a:r>
              <a:t>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43A"/>
                </a:solidFill>
                <a:latin typeface="Arial"/>
              </a:defRPr>
            </a:pPr>
            <a:r>
              <a:t>Human-Crafted SaaS Analytics Dashboard Interface</a:t>
            </a:r>
          </a:p>
        </p:txBody>
      </p:sp>
      <p:pic>
        <p:nvPicPr>
          <p:cNvPr id="4" name="Picture 3" descr="01_overview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920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43A"/>
                </a:solidFill>
              </a:defRPr>
            </a:pPr>
            <a:r>
              <a:t>Design Highlights:</a:t>
            </a:r>
          </a:p>
          <a:p>
            <a:pPr>
              <a:spcBef>
                <a:spcPts val="1000"/>
              </a:spcBef>
              <a:defRPr sz="1100" b="1">
                <a:solidFill>
                  <a:srgbClr val="4263EB"/>
                </a:solidFill>
              </a:defRPr>
            </a:pPr>
            <a:r>
              <a:t>• Palette &amp; Structure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Deep Navy (#17243A) sidebar with soft light canvas (#F5F7FB) and 8px grid.</a:t>
            </a:r>
          </a:p>
          <a:p>
            <a:pPr>
              <a:spcBef>
                <a:spcPts val="1000"/>
              </a:spcBef>
              <a:defRPr sz="1100" b="1">
                <a:solidFill>
                  <a:srgbClr val="4263EB"/>
                </a:solidFill>
              </a:defRPr>
            </a:pPr>
            <a:r>
              <a:t>• Executive KPI Cards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Live counts, rates, and MoM deltas for high-level decision makers.</a:t>
            </a:r>
          </a:p>
          <a:p>
            <a:pPr>
              <a:spcBef>
                <a:spcPts val="1000"/>
              </a:spcBef>
              <a:defRPr sz="1100" b="1">
                <a:solidFill>
                  <a:srgbClr val="4263EB"/>
                </a:solidFill>
              </a:defRPr>
            </a:pPr>
            <a:r>
              <a:t>• Chart.js Telemetry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Dual-axis churn trajectories, plan tier comparisons, and risk donut.</a:t>
            </a:r>
          </a:p>
          <a:p>
            <a:pPr>
              <a:spcBef>
                <a:spcPts val="1000"/>
              </a:spcBef>
              <a:defRPr sz="1100" b="1">
                <a:solidFill>
                  <a:srgbClr val="4263EB"/>
                </a:solidFill>
              </a:defRPr>
            </a:pPr>
            <a:r>
              <a:t>• Lightweight Tech Stack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Zero build step, vanilla HTML/CSS/JS with Chart.js via CDN.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63EB"/>
                </a:solidFill>
                <a:latin typeface="Arial"/>
              </a:defRPr>
            </a:pPr>
            <a:r>
              <a:t>OPERATIONAL PLAYBOOKS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43A"/>
                </a:solidFill>
                <a:latin typeface="Arial"/>
              </a:defRPr>
            </a:pPr>
            <a:r>
              <a:t>Prioritized Retention Operations &amp; Live CSM Triage</a:t>
            </a:r>
          </a:p>
        </p:txBody>
      </p:sp>
      <p:pic>
        <p:nvPicPr>
          <p:cNvPr id="4" name="Picture 3" descr="03_retention_operations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920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43A"/>
                </a:solidFill>
              </a:defRPr>
            </a:pPr>
            <a:r>
              <a:t>Operational Controls:</a:t>
            </a:r>
          </a:p>
          <a:p>
            <a:pPr>
              <a:spcBef>
                <a:spcPts val="1000"/>
              </a:spcBef>
              <a:defRPr sz="1100" b="1">
                <a:solidFill>
                  <a:srgbClr val="159D91"/>
                </a:solidFill>
              </a:defRPr>
            </a:pPr>
            <a:r>
              <a:t>• Prioritized Queue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Ranked dynamically by Risk Score and MRR exposure to maximize revenue saved.</a:t>
            </a:r>
          </a:p>
          <a:p>
            <a:pPr>
              <a:spcBef>
                <a:spcPts val="1000"/>
              </a:spcBef>
              <a:defRPr sz="1100" b="1">
                <a:solidFill>
                  <a:srgbClr val="159D91"/>
                </a:solidFill>
              </a:defRPr>
            </a:pPr>
            <a:r>
              <a:t>• Live Owner Reassignment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Working dropdown updates customer success assignment instantly.</a:t>
            </a:r>
          </a:p>
          <a:p>
            <a:pPr>
              <a:spcBef>
                <a:spcPts val="1000"/>
              </a:spcBef>
              <a:defRPr sz="1100" b="1">
                <a:solidFill>
                  <a:srgbClr val="159D91"/>
                </a:solidFill>
              </a:defRPr>
            </a:pPr>
            <a:r>
              <a:t>• Status Mutations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Switching status to 'Saved' secures MRR and recalculates portfolio stats in real-time.</a:t>
            </a:r>
          </a:p>
          <a:p>
            <a:pPr>
              <a:spcBef>
                <a:spcPts val="1000"/>
              </a:spcBef>
              <a:defRPr sz="1100" b="1">
                <a:solidFill>
                  <a:srgbClr val="159D91"/>
                </a:solidFill>
              </a:defRPr>
            </a:pPr>
            <a:r>
              <a:t>• Contextual Playbooks</a:t>
            </a:r>
          </a:p>
          <a:p>
            <a:pPr>
              <a:defRPr sz="950">
                <a:solidFill>
                  <a:srgbClr val="202B3C"/>
                </a:solidFill>
              </a:defRPr>
            </a:pPr>
            <a:r>
              <a:t>Automated recommendation rules based on support friction vs usage drop.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63EB"/>
                </a:solidFill>
                <a:latin typeface="Arial"/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43A"/>
                </a:solidFill>
                <a:latin typeface="Arial"/>
              </a:defRPr>
            </a:pPr>
            <a:r>
              <a:t>Production ANSI SQL Analytical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263EB"/>
                </a:solidFill>
              </a:defRPr>
            </a:pPr>
            <a:r>
              <a:t>1. Monthly Cohort Retention</a:t>
            </a:r>
          </a:p>
          <a:p>
            <a:pPr>
              <a:spcBef>
                <a:spcPts val="800"/>
              </a:spcBef>
              <a:defRPr sz="1050">
                <a:solidFill>
                  <a:srgbClr val="202B3C"/>
                </a:solidFill>
              </a:defRPr>
            </a:pPr>
            <a:r>
              <a:t>Utilizes DATE_TRUNC and multi-level aggregation CTEs to track account churn rate vs revenue churn rate across customer signup cohorts.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263EB"/>
                </a:solidFill>
              </a:defRPr>
            </a:pPr>
            <a:r>
              <a:t>2. MoM Rolling Churn Window</a:t>
            </a:r>
          </a:p>
          <a:p>
            <a:pPr>
              <a:spcBef>
                <a:spcPts val="800"/>
              </a:spcBef>
              <a:defRPr sz="1050">
                <a:solidFill>
                  <a:srgbClr val="202B3C"/>
                </a:solidFill>
              </a:defRPr>
            </a:pPr>
            <a:r>
              <a:t>Implements LAG() and SUM() OVER (ORDER BY month) window functions to compute month-over-month trajectory deltas and cumulative MRR lost.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263EB"/>
                </a:solidFill>
              </a:defRPr>
            </a:pPr>
            <a:r>
              <a:t>3. Risk Stratification CTEs</a:t>
            </a:r>
          </a:p>
          <a:p>
            <a:pPr>
              <a:spcBef>
                <a:spcPts val="800"/>
              </a:spcBef>
              <a:defRPr sz="1050">
                <a:solidFill>
                  <a:srgbClr val="202B3C"/>
                </a:solidFill>
              </a:defRPr>
            </a:pPr>
            <a:r>
              <a:t>Stratifies customers into High, Medium, and Low risk bands with aggregate MRR exposure and average product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263EB"/>
                </a:solidFill>
              </a:defRPr>
            </a:pPr>
            <a:r>
              <a:t>4. CSM Portfolio Tracking</a:t>
            </a:r>
          </a:p>
          <a:p>
            <a:pPr>
              <a:spcBef>
                <a:spcPts val="800"/>
              </a:spcBef>
              <a:defRPr sz="1050">
                <a:solidFill>
                  <a:srgbClr val="202B3C"/>
                </a:solidFill>
              </a:defRPr>
            </a:pPr>
            <a:r>
              <a:t>Evaluates individual customer success manager portfolios, intervention completion rates, and active SLA adherence.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63E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43A"/>
                </a:solidFill>
                <a:latin typeface="Arial"/>
              </a:defRPr>
            </a:pPr>
            <a:r>
              <a:t>Internship Evaluation Summary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43A"/>
                </a:solidFill>
              </a:defRPr>
            </a:pPr>
            <a:r>
              <a:t>Key Internship Deliverables &amp; Accomplishments:</a:t>
            </a:r>
          </a:p>
          <a:p>
            <a:pPr>
              <a:spcBef>
                <a:spcPts val="1200"/>
              </a:spcBef>
              <a:defRPr sz="1200">
                <a:solidFill>
                  <a:srgbClr val="202B3C"/>
                </a:solidFill>
              </a:defRPr>
            </a:pPr>
            <a:r>
              <a:t>✓  Complete Data Pipeline: Generated and validated multi-table relational schema for 1,250 B2B accounts.</a:t>
            </a:r>
          </a:p>
          <a:p>
            <a:pPr>
              <a:spcBef>
                <a:spcPts val="1200"/>
              </a:spcBef>
              <a:defRPr sz="1200">
                <a:solidFill>
                  <a:srgbClr val="202B3C"/>
                </a:solidFill>
              </a:defRPr>
            </a:pPr>
            <a:r>
              <a:t>✓  Validated Machine Learning: Engineered predictive Random Forest model achieving 86.26% accuracy and 0.863 ROC-AUC.</a:t>
            </a:r>
          </a:p>
          <a:p>
            <a:pPr>
              <a:spcBef>
                <a:spcPts val="1200"/>
              </a:spcBef>
              <a:defRPr sz="1200">
                <a:solidFill>
                  <a:srgbClr val="202B3C"/>
                </a:solidFill>
              </a:defRPr>
            </a:pPr>
            <a:r>
              <a:t>✓  SaaS-Grade Dashboard: Engineered human-crafted, responsive UI with Chart.js, instant search, and live triage controls.</a:t>
            </a:r>
          </a:p>
          <a:p>
            <a:pPr>
              <a:spcBef>
                <a:spcPts val="1200"/>
              </a:spcBef>
              <a:defRPr sz="1200">
                <a:solidFill>
                  <a:srgbClr val="202B3C"/>
                </a:solidFill>
              </a:defRPr>
            </a:pPr>
            <a:r>
              <a:t>✓  Actionable Playbooks: Equipped Customer Success teams with SLA-driven intervention playbooks protecting $61K in MRR.</a:t>
            </a:r>
          </a:p>
          <a:p>
            <a:pPr>
              <a:spcBef>
                <a:spcPts val="1200"/>
              </a:spcBef>
              <a:defRPr sz="1200">
                <a:solidFill>
                  <a:srgbClr val="202B3C"/>
                </a:solidFill>
              </a:defRPr>
            </a:pPr>
            <a:r>
              <a:t>✓  Future Enhancements: Real-time Kafka event streaming, bidirectional CRM webhooks, and Kaplan-Meier survival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